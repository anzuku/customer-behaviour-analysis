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93B"/>
                </a:solidFill>
                <a:latin typeface="Arial"/>
              </a:rPr>
              <a:t>Purchase by Gender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99-45EA-BA9D-D85126EE0018}"/>
              </c:ext>
            </c:extLst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99-45EA-BA9D-D85126EE001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99-45EA-BA9D-D85126EE001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99-45EA-BA9D-D85126EE001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2.67</c:v>
                </c:pt>
                <c:pt idx="1">
                  <c:v>1.66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99-45EA-BA9D-D85126EE0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93B"/>
                </a:solidFill>
                <a:latin typeface="Arial"/>
              </a:rPr>
              <a:t>Purchase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FE-40C2-A73A-172FA3EBE854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FE-40C2-A73A-172FA3EBE85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1FE-40C2-A73A-172FA3EBE854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FE-40C2-A73A-172FA3EBE8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Footwear</c:v>
                </c:pt>
                <c:pt idx="2">
                  <c:v>Outerwear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2.13</c:v>
                </c:pt>
                <c:pt idx="1">
                  <c:v>0.47</c:v>
                </c:pt>
                <c:pt idx="2">
                  <c:v>0.45</c:v>
                </c:pt>
                <c:pt idx="3">
                  <c:v>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1FE-40C2-A73A-172FA3EBE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93B"/>
                </a:solidFill>
                <a:latin typeface="Arial"/>
              </a:rPr>
              <a:t>Revenue by Season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38-4E10-8876-998E69841669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38-4E10-8876-998E69841669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38-4E10-8876-998E69841669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38-4E10-8876-998E698416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Summer</c:v>
                </c:pt>
                <c:pt idx="2">
                  <c:v>Spring</c:v>
                </c:pt>
                <c:pt idx="3">
                  <c:v>Winter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1.35</c:v>
                </c:pt>
                <c:pt idx="1">
                  <c:v>1.08</c:v>
                </c:pt>
                <c:pt idx="2">
                  <c:v>1.02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38-4E10-8876-998E698416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93B"/>
                </a:solidFill>
                <a:latin typeface="Arial"/>
              </a:rPr>
              <a:t>Purchase Frequency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Bi-Weekly</c:v>
                </c:pt>
                <c:pt idx="1">
                  <c:v>Weekly</c:v>
                </c:pt>
                <c:pt idx="2">
                  <c:v>Quarterly</c:v>
                </c:pt>
                <c:pt idx="3">
                  <c:v>Every 3 Mo.</c:v>
                </c:pt>
                <c:pt idx="4">
                  <c:v>Monthly</c:v>
                </c:pt>
                <c:pt idx="5">
                  <c:v>Fortnightly</c:v>
                </c:pt>
                <c:pt idx="6">
                  <c:v>Annually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0.88</c:v>
                </c:pt>
                <c:pt idx="1">
                  <c:v>0.83</c:v>
                </c:pt>
                <c:pt idx="2">
                  <c:v>0.68</c:v>
                </c:pt>
                <c:pt idx="3">
                  <c:v>0.61</c:v>
                </c:pt>
                <c:pt idx="4">
                  <c:v>0.42</c:v>
                </c:pt>
                <c:pt idx="5">
                  <c:v>0.47</c:v>
                </c:pt>
                <c:pt idx="6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8A-49C4-8B14-72762462D9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93B"/>
                </a:solidFill>
                <a:latin typeface="Arial"/>
              </a:rPr>
              <a:t>Revenue by Payment Method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5F-43FE-96B4-5D87539BCDFD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5F-43FE-96B4-5D87539BCDFD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5F-43FE-96B4-5D87539BCDFD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5F-43FE-96B4-5D87539BCDFD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05F-43FE-96B4-5D87539BCDFD}"/>
              </c:ext>
            </c:extLst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05F-43FE-96B4-5D87539BCDF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Debit Card</c:v>
                </c:pt>
                <c:pt idx="1">
                  <c:v>Venmo</c:v>
                </c:pt>
                <c:pt idx="2">
                  <c:v>PayPal</c:v>
                </c:pt>
                <c:pt idx="3">
                  <c:v>Bank Transfer</c:v>
                </c:pt>
                <c:pt idx="4">
                  <c:v>Cash</c:v>
                </c:pt>
                <c:pt idx="5">
                  <c:v>Credit Card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</c:v>
                </c:pt>
                <c:pt idx="1">
                  <c:v>0.86</c:v>
                </c:pt>
                <c:pt idx="2">
                  <c:v>0.84</c:v>
                </c:pt>
                <c:pt idx="3">
                  <c:v>0.57999999999999996</c:v>
                </c:pt>
                <c:pt idx="4">
                  <c:v>0.56000000000000005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05F-43FE-96B4-5D87539BCD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93B"/>
                </a:solidFill>
                <a:latin typeface="Arial"/>
              </a:rPr>
              <a:t>Revenue by Size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DB-41AC-8FCD-A93A1E4792EC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DB-41AC-8FCD-A93A1E4792EC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DB-41AC-8FCD-A93A1E4792EC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DB-41AC-8FCD-A93A1E4792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</c:v>
                </c:pt>
                <c:pt idx="1">
                  <c:v>L</c:v>
                </c:pt>
                <c:pt idx="2">
                  <c:v>S</c:v>
                </c:pt>
                <c:pt idx="3">
                  <c:v>XL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1.571</c:v>
                </c:pt>
                <c:pt idx="1">
                  <c:v>1.2509999999999999</c:v>
                </c:pt>
                <c:pt idx="2">
                  <c:v>0.81</c:v>
                </c:pt>
                <c:pt idx="3">
                  <c:v>0.69399999999999995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2DB-41AC-8FCD-A93A1E479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84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Patterns · Demographics · Revenue Insights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£4.33K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£1.84K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 Purchases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9516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9516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BREAKDOWN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91440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values in £K  ·  n = 65 items purchased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PURCHASE FREQUENCY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91440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values in £K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&amp; SIZE PREFERENCES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91440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values in £K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417320"/>
          </a:xfrm>
          <a:prstGeom prst="rect">
            <a:avLst/>
          </a:prstGeom>
          <a:solidFill>
            <a:srgbClr val="152354"/>
          </a:solidFill>
          <a:ln w="12700">
            <a:solidFill>
              <a:srgbClr val="1E2F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847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drive 62% of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buyers account for £2.67K vs £1.66K from female customers. Targeted campaigns for male shoppers could amplify returns.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14800" cy="1417320"/>
          </a:xfrm>
          <a:prstGeom prst="rect">
            <a:avLst/>
          </a:prstGeom>
          <a:solidFill>
            <a:srgbClr val="152354"/>
          </a:solidFill>
          <a:ln w="12700">
            <a:solidFill>
              <a:srgbClr val="1E2F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54864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6048" y="1847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at ~49% of purchases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top-performing category. Prioritise inventory depth and seasonal refreshes to capture this demand.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417320"/>
          </a:xfrm>
          <a:prstGeom prst="rect">
            <a:avLst/>
          </a:prstGeom>
          <a:solidFill>
            <a:srgbClr val="152354"/>
          </a:solidFill>
          <a:ln w="12700">
            <a:solidFill>
              <a:srgbClr val="1E2F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54864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is the peak shopping season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generates £1.35K, outpacing other seasons. Plan promotions, stock-ups, and launches ahead of the fall window.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114800" cy="1417320"/>
          </a:xfrm>
          <a:prstGeom prst="rect">
            <a:avLst/>
          </a:prstGeom>
          <a:solidFill>
            <a:srgbClr val="152354"/>
          </a:solidFill>
          <a:ln w="12700">
            <a:solidFill>
              <a:srgbClr val="1E2F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08960"/>
            <a:ext cx="54864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buyers are the highest-value segment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purchasers generate the most revenue (£0.88K). A loyalty programme could convert monthly buyers into bi-weekly regulars.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On-screen Show (16:9)</PresentationFormat>
  <Paragraphs>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PptxGenJS</dc:creator>
  <cp:lastModifiedBy>gil anzuku</cp:lastModifiedBy>
  <cp:revision>1</cp:revision>
  <dcterms:created xsi:type="dcterms:W3CDTF">2026-06-01T17:00:34Z</dcterms:created>
  <dcterms:modified xsi:type="dcterms:W3CDTF">2026-06-01T17:03:03Z</dcterms:modified>
</cp:coreProperties>
</file>